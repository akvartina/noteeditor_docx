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c90fee1c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c90fee1c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c90fee1c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c90fee1c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c90fee1ca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c90fee1ca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c90fee1ca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c90fee1c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c90fee1ca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c90fee1ca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c90fee1ca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c90fee1ca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90fee1ca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c90fee1ca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90fee1ca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c90fee1ca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90fee1ca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c90fee1ca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Finding Landmarks: Overview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Pre-Processing: Gaze Analysis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246550" y="1152475"/>
            <a:ext cx="358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Interpolation of missing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Consider only gaze fixations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8 consecutive data points (~266 ms)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larger gaps considered to be missing data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1150"/>
            <a:ext cx="4941750" cy="337904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41250" y="4568875"/>
            <a:ext cx="49053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Fig.1. Gazes analysis.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Graph Creation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5246550" y="1152475"/>
            <a:ext cx="358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Based on participants’ gaze fixations on the regions of interest (ROI)</a:t>
            </a:r>
            <a:endParaRPr/>
          </a:p>
          <a:p>
            <a:pPr indent="-310832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ru"/>
              <a:t>fixations on regions of no-house (NH) or “sky” is not considered</a:t>
            </a:r>
            <a:endParaRPr/>
          </a:p>
          <a:p>
            <a:pPr indent="-334327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The graph plots the </a:t>
            </a:r>
            <a:r>
              <a:rPr b="1" lang="ru"/>
              <a:t>nodes</a:t>
            </a:r>
            <a:r>
              <a:rPr lang="ru"/>
              <a:t> (house fixation points) and </a:t>
            </a:r>
            <a:r>
              <a:rPr b="1" lang="ru"/>
              <a:t>edges</a:t>
            </a:r>
            <a:r>
              <a:rPr lang="ru"/>
              <a:t> (the subsequent gaze succade to another ROI)</a:t>
            </a:r>
            <a:endParaRPr/>
          </a:p>
          <a:p>
            <a:pPr indent="-310832" lvl="1" marL="914400" rtl="0" algn="l">
              <a:spcBef>
                <a:spcPts val="1000"/>
              </a:spcBef>
              <a:spcAft>
                <a:spcPts val="1000"/>
              </a:spcAft>
              <a:buSzPct val="100000"/>
              <a:buChar char="○"/>
            </a:pPr>
            <a:r>
              <a:rPr lang="ru"/>
              <a:t>undirected and unweighted, i.e. edges show no direction and no </a:t>
            </a:r>
            <a:r>
              <a:rPr lang="ru"/>
              <a:t>frequency</a:t>
            </a:r>
            <a:r>
              <a:rPr lang="ru"/>
              <a:t> of occurence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941749" cy="34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41250" y="4568875"/>
            <a:ext cx="49053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Fig.2. Graph Creation.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Graph Partitioning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871775" y="1152475"/>
            <a:ext cx="496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Can the graph-map be cut into two or more mutually independent graphs?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Focus on: the number of edges between nodes.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within-cluster and between-cluster connections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b="1" lang="ru"/>
              <a:t>The</a:t>
            </a:r>
            <a:r>
              <a:rPr lang="ru"/>
              <a:t> </a:t>
            </a:r>
            <a:r>
              <a:rPr b="1" lang="ru"/>
              <a:t>spectral graph analysis</a:t>
            </a:r>
            <a:endParaRPr b="1"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41089" r="0" t="0"/>
          <a:stretch/>
        </p:blipFill>
        <p:spPr>
          <a:xfrm>
            <a:off x="311700" y="1180663"/>
            <a:ext cx="2911125" cy="336002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41250" y="4568875"/>
            <a:ext cx="49053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Fig.3. Graph partitioning. Potential clusters of nodes on the map.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Graph Partitioning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2862650" y="1152475"/>
            <a:ext cx="596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The</a:t>
            </a:r>
            <a:r>
              <a:rPr lang="ru"/>
              <a:t> </a:t>
            </a:r>
            <a:r>
              <a:rPr b="1" lang="ru"/>
              <a:t>spectral graph analysis</a:t>
            </a:r>
            <a:endParaRPr b="1"/>
          </a:p>
          <a:p>
            <a:pPr indent="-322580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ru" sz="1600"/>
              <a:t>The adjacency matrix</a:t>
            </a:r>
            <a:r>
              <a:rPr lang="ru"/>
              <a:t> </a:t>
            </a:r>
            <a:r>
              <a:rPr lang="ru" sz="1417"/>
              <a:t>- a binary square matrix with each entry indicating whether the edge connects two nodes.</a:t>
            </a:r>
            <a:endParaRPr sz="1417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 sz="1600"/>
              <a:t>The degree matrix</a:t>
            </a:r>
            <a:r>
              <a:rPr lang="ru"/>
              <a:t> </a:t>
            </a:r>
            <a:r>
              <a:rPr lang="ru" sz="1417"/>
              <a:t>- a square matrix containing a degree of each node (number of connections) on its diagonal and 0 otherwise.</a:t>
            </a:r>
            <a:endParaRPr sz="1417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 sz="1600"/>
              <a:t>Laplacian matrix</a:t>
            </a:r>
            <a:r>
              <a:rPr lang="ru"/>
              <a:t> </a:t>
            </a:r>
            <a:r>
              <a:rPr lang="ru" sz="1417"/>
              <a:t>= the adjacency matrix - the degree matrix</a:t>
            </a:r>
            <a:endParaRPr sz="1417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 sz="1600"/>
              <a:t>Smallest eigenvalue = 0 → take 2nd smallest eigenvalue</a:t>
            </a:r>
            <a:endParaRPr sz="1600"/>
          </a:p>
          <a:p>
            <a:pPr indent="-312367" lvl="0" marL="809999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426"/>
              <a:t>the larger the value, the higher the overall connectivity of the network is.</a:t>
            </a:r>
            <a:endParaRPr sz="1426"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 sz="1600"/>
              <a:t>Fiedler vector</a:t>
            </a:r>
            <a:r>
              <a:rPr lang="ru" sz="1729"/>
              <a:t> </a:t>
            </a:r>
            <a:r>
              <a:rPr lang="ru" sz="1400"/>
              <a:t>- eigenvector of 2nd smallest eigenvector; the further the value from 0, the higher the connectivity of the particular node within its cluster.</a:t>
            </a:r>
            <a:endParaRPr sz="1400"/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58074" t="0"/>
          <a:stretch/>
        </p:blipFill>
        <p:spPr>
          <a:xfrm>
            <a:off x="311700" y="1106962"/>
            <a:ext cx="2052675" cy="33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414675" y="4435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2"/>
                </a:solidFill>
              </a:rPr>
              <a:t>Fig.4. The spectral graph analysis. (a) The sparsity pattern of the graph’s adjacency matrix sorted by the entries in second smallest eigenvector. </a:t>
            </a:r>
            <a:r>
              <a:rPr lang="ru" sz="1000">
                <a:solidFill>
                  <a:schemeClr val="dk2"/>
                </a:solidFill>
              </a:rPr>
              <a:t>(c) Many entries of the Fiedler vector are around 0, indicating the connection of these nodes to the nodes from another cluster, i.e. the absence of separate clusters.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Graph Partitioning: Investigate quality of the partitioning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Consider the intra-cluster density and the inter-cluster density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Density - the ratio of instantiated edges to the number of possible edges.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→  on average, each participant has ~883 edges per graph; mean density = 0.041 ± 0.006; 4.1% of all possible edges instantiated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→ dividing the graph in two parts, cuts at least 9,3% of the edges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→ after partitioning, the mean intra-cluster density = 0.079 ± 0.012;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				    the mean inter-cluster density = 0.0083 ± 0.0020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→ </a:t>
            </a:r>
            <a:r>
              <a:rPr b="1" lang="ru"/>
              <a:t>the </a:t>
            </a:r>
            <a:r>
              <a:rPr b="1" lang="ru"/>
              <a:t>graph</a:t>
            </a:r>
            <a:r>
              <a:rPr b="1" lang="ru"/>
              <a:t> can not be easily partitioned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Node Degree Centrality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5004475" y="1152475"/>
            <a:ext cx="382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The number of edges connecting a node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A few houses reach rather high values (up to 33).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Calculate the mean node degree iterated over all participants, all houses, and both.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600"/>
              <a:t>Correlation Coefficient </a:t>
            </a:r>
            <a:r>
              <a:rPr lang="ru" sz="1375"/>
              <a:t>- how consistent the participants in their gazes between each other in relation to the mean node degree.</a:t>
            </a:r>
            <a:endParaRPr sz="1375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ru" sz="1300"/>
              <a:t>Mean = 0.7; STD = 0.06</a:t>
            </a:r>
            <a:endParaRPr sz="1300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5000"/>
            <a:ext cx="4576127" cy="197733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 txBox="1"/>
          <p:nvPr/>
        </p:nvSpPr>
        <p:spPr>
          <a:xfrm>
            <a:off x="341250" y="4568875"/>
            <a:ext cx="49053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Fig.5. Node degree centrality.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212750" y="1152475"/>
            <a:ext cx="561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Characterizes hierarchical configurations within networks.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Shows the tendency of the frequency of nodes of certain degree over increasing degree.</a:t>
            </a:r>
            <a:endParaRPr/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individual degree values are plotted against their frequency of appearance on a double logarithmic plot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the data points above the median of the degree distribution are linearly fitted</a:t>
            </a:r>
            <a:endParaRPr/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Strong hierarchical configurations with many low degree nodes and few high degree nodes have a slope of below -2 or above 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→ Slope smaller than -2.00; Mean = 2.92; STD = 0.34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→ “the hierarchy index reveals a clear hierarchical structure of the gaze graphs and emphasizes the importance of the few exceptionally high node degree centrality houses”</a:t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476450" y="4572175"/>
            <a:ext cx="49053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Fig.6. The Hierarchy Index.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50658" t="0"/>
          <a:stretch/>
        </p:blipFill>
        <p:spPr>
          <a:xfrm>
            <a:off x="476450" y="1169400"/>
            <a:ext cx="2014411" cy="15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 rotWithShape="1">
          <a:blip r:embed="rId3">
            <a:alphaModFix/>
          </a:blip>
          <a:srcRect b="0" l="49344" r="0" t="0"/>
          <a:stretch/>
        </p:blipFill>
        <p:spPr>
          <a:xfrm>
            <a:off x="621690" y="2891129"/>
            <a:ext cx="2014411" cy="152607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Hierarchy Index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4407250" y="1152475"/>
            <a:ext cx="442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The mean ND distribution over all participants to identify the high ND houses → plotting the mean node degree of houses averaged across participants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Mean ND across all houses and all participants = 8.3; STD = 3.98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Threshold to identify high node degree houses: 2-sigma distance → 16.25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→ a set of 10 houses with the ND centrality values exceeding the threshold.</a:t>
            </a:r>
            <a:endParaRPr/>
          </a:p>
        </p:txBody>
      </p:sp>
      <p:sp>
        <p:nvSpPr>
          <p:cNvPr id="115" name="Google Shape;115;p21"/>
          <p:cNvSpPr txBox="1"/>
          <p:nvPr/>
        </p:nvSpPr>
        <p:spPr>
          <a:xfrm>
            <a:off x="311700" y="4136275"/>
            <a:ext cx="381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Fig.7. The mean ND distribution across all participants with mean,1-sigma- and 2-sigma thresholds.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Threshold for gaze-graph-defined landmarks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75" y="1601200"/>
            <a:ext cx="3953450" cy="21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The Rich Club Coefficient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4283675" y="1152475"/>
            <a:ext cx="45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Are the high node degree nodes preferentially connected and form a network?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“</a:t>
            </a:r>
            <a:r>
              <a:rPr lang="ru"/>
              <a:t>The rich club coefficient is based on the relation of edges in the graph in comparison to the number of possible edges that could be instantiated”.</a:t>
            </a:r>
            <a:endParaRPr/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how many edges of nodes with a ND of at least 1 (all edges of the graph)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divided by the max possible number of edges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apply the </a:t>
            </a:r>
            <a:r>
              <a:rPr b="1" lang="ru"/>
              <a:t>baseline</a:t>
            </a:r>
            <a:r>
              <a:rPr lang="ru"/>
              <a:t> - random graph that has the same degree distribution as the graph of interest</a:t>
            </a:r>
            <a:endParaRPr/>
          </a:p>
          <a:p>
            <a:pPr indent="-30861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A value of 1.0 - no bias in connectivity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Higher values indicate a preferential connectivity within the considered set of nodes.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52725"/>
            <a:ext cx="3978875" cy="201121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476450" y="4572175"/>
            <a:ext cx="49053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2"/>
                </a:solidFill>
              </a:rPr>
              <a:t>Fig.8. The Rich Club Coefficient.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